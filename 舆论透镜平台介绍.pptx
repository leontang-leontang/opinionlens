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舆论透镜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09728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</a:defRPr>
            </a:pPr>
            <a:r>
              <a:t>OpinionLens · 社交媒体舆论分析平台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透视舆论本质 · 多平台话题分析专家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AI Society Research Team  |  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737360"/>
            <a:ext cx="914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53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产品定位与愿景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251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核心功能体系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34847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技术架构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94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44575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数据分析流程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53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产品优势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00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51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应用场景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2976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34847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产品路线图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39495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576C"/>
                </a:solidFill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445759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使用指南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产品定位与愿景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566160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通用化平台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面向研究者、媒体、政府、企业</a:t>
            </a:r>
            <a:br/>
            <a:r>
              <a:t>任何人都能使用的舆论分析工具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55448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554480"/>
            <a:ext cx="35661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快速洞察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240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从数据到可视化，最快1小时完成</a:t>
            </a:r>
            <a:br/>
            <a:r>
              <a:t>无需编程，零门槛上手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55448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554480"/>
            <a:ext cx="35661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深度分析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2240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不仅看表面数据，更揭示传播结构</a:t>
            </a:r>
            <a:br/>
            <a:r>
              <a:t>影响力层级和异常模式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目标用户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51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学术研究者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994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舆情量化分析、论文数据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251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媒体记者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5994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快速把握事件、追踪走向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251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政府舆情部门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5994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实时监测、危机预警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4251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企业品牌公关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5994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口碑监控、声誉管理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核心功能体系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743200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多平台抓取 · Twitter / Reddit</a:t>
            </a:r>
            <a:br/>
            <a:r>
              <a:t>新闻 RSS / YouTube · 微博</a:t>
            </a:r>
            <a:br/>
            <a:r>
              <a:t>自定义JSONL/CSV导入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141732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1417320"/>
            <a:ext cx="2743200" cy="73152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4992" y="158191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传播网络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20574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NetworkX图构建 · PageRank算法</a:t>
            </a:r>
            <a:br/>
            <a:r>
              <a:t>介数中心性 · 社区检测(Louvain)</a:t>
            </a:r>
            <a:br/>
            <a:r>
              <a:t>交互式力导向网络图谱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141732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5624" y="1417320"/>
            <a:ext cx="27432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58191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意见领袖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0574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综合影响力得分(加权模型)</a:t>
            </a:r>
            <a:br/>
            <a:r>
              <a:t>TOP10榜单 · 多维对比分析</a:t>
            </a:r>
            <a:br/>
            <a:r>
              <a:t>用户画像卡片 · 传播路径追踪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141732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417320"/>
            <a:ext cx="27432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58191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情感分析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05740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多语言词典（日/中/英）</a:t>
            </a:r>
            <a:br/>
            <a:r>
              <a:t>正面/中立/负面三分类</a:t>
            </a:r>
            <a:br/>
            <a:r>
              <a:t>情感倾向指数 · 正负比计算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06908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069080"/>
            <a:ext cx="274320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33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话题聚类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7091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Hashtag频率统计 · Jieba关键词</a:t>
            </a:r>
            <a:br/>
            <a:r>
              <a:t>TF-IDF主题模型 · 月度变化</a:t>
            </a:r>
            <a:br/>
            <a:r>
              <a:t>话题生命周期追踪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406908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27832" y="4069080"/>
            <a:ext cx="27432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64992" y="4233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时间序列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4992" y="47091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日/周/月三级粒度</a:t>
            </a:r>
            <a:br/>
            <a:r>
              <a:t>热度趋势曲线 · 周内分布分析</a:t>
            </a:r>
            <a:br/>
            <a:r>
              <a:t>高热度日识别 · 事件关联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35624" y="406908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35624" y="4069080"/>
            <a:ext cx="2743200" cy="73152"/>
          </a:xfrm>
          <a:prstGeom prst="rect">
            <a:avLst/>
          </a:prstGeom>
          <a:solidFill>
            <a:srgbClr val="F55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72784" y="4233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异常检测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7091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热度突增检测(Burst Detection)</a:t>
            </a:r>
            <a:br/>
            <a:r>
              <a:t>协同传播识别 · 可疑账号评分</a:t>
            </a:r>
            <a:br/>
            <a:r>
              <a:t>高/中/低风险分级预警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43416" y="4069080"/>
            <a:ext cx="27432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43416" y="4069080"/>
            <a:ext cx="274320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80576" y="423367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</a:defRPr>
            </a:pPr>
            <a:r>
              <a:t>话题搜索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47091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关键词深度分析 · 参与者统计</a:t>
            </a:r>
            <a:br/>
            <a:r>
              <a:t>代表性推文 · 日分布趋势</a:t>
            </a:r>
            <a:br/>
            <a:r>
              <a:t>相关话题关联推荐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技术架构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用户层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600200"/>
            <a:ext cx="2540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600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Web浏览器 / 移动端PWA / API调用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前端层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880360"/>
            <a:ext cx="2540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880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React 18 + Vite + Ant Design 5 + ECharts 5</a:t>
            </a:r>
            <a:br/>
            <a:r>
              <a:t>SPA单页应用 · 响应式设计 · 移动端底部Tab · 交互式图表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77639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处理层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4160519"/>
            <a:ext cx="2540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416051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Python数据处理流水线</a:t>
            </a:r>
            <a:br/>
            <a:r>
              <a:t>Pandas + NumPy · NetworkX · Jieba · 自建多语言情感词典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57799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39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存储层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5440679"/>
            <a:ext cx="2540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544067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t>JSON/CSV文件 · Vite打包嵌入JavaScript bundle</a:t>
            </a:r>
            <a:br/>
            <a:r>
              <a:t>Netlify CDN全球加速 · 零服务器成本 · 秒级部署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技术栈：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React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Vite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Ant Design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ECharts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NetworkX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Pandas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Jieba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6492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5576C"/>
                </a:solidFill>
              </a:defRPr>
            </a:pPr>
            <a:r>
              <a:t>Netlify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数据分析流程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关键词/话题</a:t>
            </a:r>
            <a:br/>
            <a:r>
              <a:t>→ API抓取</a:t>
            </a:r>
            <a:br/>
            <a:r>
              <a:t>→ 原始JSONL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2743199" y="1645920"/>
            <a:ext cx="640080" cy="64008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199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数据清洗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无效记录过滤</a:t>
            </a:r>
            <a:br/>
            <a:r>
              <a:t>文本规范化</a:t>
            </a:r>
            <a:br/>
            <a:r>
              <a:t>日期标准化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19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16459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特征工程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参与度得分</a:t>
            </a:r>
            <a:br/>
            <a:r>
              <a:t>时间特征</a:t>
            </a:r>
            <a:br/>
            <a:r>
              <a:t>情感词匹配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675119" y="16459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199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网络构建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回复/引用关系</a:t>
            </a:r>
            <a:br/>
            <a:r>
              <a:t>→ 有向加权图</a:t>
            </a:r>
            <a:br/>
            <a:r>
              <a:t>→ NetworkX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1645920"/>
            <a:ext cx="640080" cy="640080"/>
          </a:xfrm>
          <a:prstGeom prst="ellipse">
            <a:avLst/>
          </a:prstGeom>
          <a:solidFill>
            <a:srgbClr val="F55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指标计算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PageRank</a:t>
            </a:r>
            <a:br/>
            <a:r>
              <a:t>介数中心性</a:t>
            </a:r>
            <a:br/>
            <a:r>
              <a:t>社区检测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10607040" y="1645920"/>
            <a:ext cx="640080" cy="640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07040" y="175564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Step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0412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可视化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2880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JSON生成</a:t>
            </a:r>
            <a:br/>
            <a:r>
              <a:t>→ Vite嵌入</a:t>
            </a:r>
            <a:br/>
            <a:r>
              <a:t>→ 前端图表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典型分析周期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60520"/>
            <a:ext cx="13716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34340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数据采集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5-30分钟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0" y="4617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取决于数据量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0" y="434340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数据清洗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1-5分钟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617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自动完成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434340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4434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网络构建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846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5-20分钟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46177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10万级节点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53212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623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指标计算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6035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1-3分钟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68880" y="58064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迭代算法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97680" y="553212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4840" y="5623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情感分析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34840" y="6035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2-5分钟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8064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词典匹配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38160" y="553212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75320" y="5623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社区检测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6035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3-10分钟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49840" y="58064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</a:defRPr>
            </a:pPr>
            <a:r>
              <a:t>Louvain算法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产品优势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3152" cy="219456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普惠化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将复杂的网络科学分析能力</a:t>
            </a:r>
            <a:br/>
            <a:r>
              <a:t>普惠给非技术背景用户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5544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554480"/>
            <a:ext cx="73152" cy="219456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深度分析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不仅看表面数据，更揭示</a:t>
            </a:r>
            <a:br/>
            <a:r>
              <a:t>传播结构、影响力层级和异常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5448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快速交付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317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从数据到可视化结果</a:t>
            </a:r>
            <a:br/>
            <a:r>
              <a:t>最短1小时内完成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2336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519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低成本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00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纯前端架构，零服务器成本</a:t>
            </a:r>
            <a:br/>
            <a:r>
              <a:t>适合个人研究者和小团队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402336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06240" y="4023360"/>
            <a:ext cx="73152" cy="2194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2519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可扩展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800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完全开源，支持根据需求</a:t>
            </a:r>
            <a:br/>
            <a:r>
              <a:t>二次开发和功能扩展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402336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023360"/>
            <a:ext cx="73152" cy="2194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2519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多语言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00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支持日语、中文、英文</a:t>
            </a:r>
            <a:br/>
            <a:r>
              <a:t>等多种语言的情感分析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应用场景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554480"/>
            <a:ext cx="3749039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3749039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政治人物公众形象分析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流程：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1. 采集相关推文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90087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2. 查看意见领袖榜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74135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3. 分析情感分布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581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4. 发现核心争议话题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80560"/>
            <a:ext cx="347472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输出：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834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EEA"/>
                </a:solidFill>
              </a:defRPr>
            </a:pPr>
            <a:r>
              <a:t>传播网络图 + TOP影响力账号 + 情感报告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1554480"/>
            <a:ext cx="3749039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554480"/>
            <a:ext cx="3749039" cy="73152"/>
          </a:xfrm>
          <a:prstGeom prst="rect">
            <a:avLst/>
          </a:prstGeom>
          <a:solidFill>
            <a:srgbClr val="F55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576C"/>
                </a:solidFill>
              </a:defRPr>
            </a:pPr>
            <a:r>
              <a:t>突发事件舆论追踪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240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流程：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1. 设置采集任务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990087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2. 定期刷新数据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74135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3. 观察热度突增告警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7581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4. 追踪协同传播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4480560"/>
            <a:ext cx="3474720" cy="25400"/>
          </a:xfrm>
          <a:prstGeom prst="rect">
            <a:avLst/>
          </a:prstGeom>
          <a:solidFill>
            <a:srgbClr val="F55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输出：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9834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576C"/>
                </a:solidFill>
              </a:defRPr>
            </a:pPr>
            <a:r>
              <a:t>实时热力图 + 异常告警 + 可疑行为报告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1554480"/>
            <a:ext cx="3749039" cy="4846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60" y="1554480"/>
            <a:ext cx="3749039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学术研究数据支撑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240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流程：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1. 导入话题数据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0087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2. 验证网络结构特征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374135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3. 绘制可视化图谱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75818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</a:defRPr>
            </a:pPr>
            <a:r>
              <a:t>4. 导出统计数据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4480560"/>
            <a:ext cx="34747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4617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</a:defRPr>
            </a:pPr>
            <a:r>
              <a:t>输出：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49834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0B981"/>
                </a:solidFill>
              </a:defRPr>
            </a:pPr>
            <a:r>
              <a:t>网络指标 + 可视化图谱 + 论文数据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产品路线图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</a:defRPr>
            </a:pPr>
            <a:r>
              <a:t>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727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已完成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540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544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纯前端静态应用 · 多维度舆论分析 · 交互式可视化</a:t>
            </a:r>
            <a:br/>
            <a:r>
              <a:t>意见领袖识别 · 异常检测 · 移动端适配 · 多平台数据导入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</a:defRPr>
            </a:pPr>
            <a:r>
              <a:t>v1.1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8529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进行中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926080"/>
            <a:ext cx="2540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8346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多语言词典扩充（韩/法/德）· 图表导出（PNG/CSV）</a:t>
            </a:r>
            <a:br/>
            <a:r>
              <a:t>PDF报告自动生成 · 移动端Tab优化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73152" cy="11430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64BA2"/>
                </a:solidFill>
              </a:defRPr>
            </a:pPr>
            <a:r>
              <a:t>v2.0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1330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规划中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4206240"/>
            <a:ext cx="25400" cy="254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411480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实时数据抓取 · 后端API服务 · PostgreSQL存储</a:t>
            </a:r>
            <a:br/>
            <a:r>
              <a:t>定时任务自动分析 · 多租户支持 · BERT深度学习情感分析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03519"/>
            <a:ext cx="1124712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03519"/>
            <a:ext cx="73152" cy="1143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</a:defRPr>
            </a:pPr>
            <a:r>
              <a:t>v3.0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413247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长期愿景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5486399"/>
            <a:ext cx="2540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5394959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跨平台统一舆论画像 · Kafka+Flink流式处理</a:t>
            </a:r>
            <a:br/>
            <a:r>
              <a:t>AI趋势预测 · SHAP可解释性 · 危机响应自动化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使用指南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576C"/>
                </a:solidFill>
              </a:defRPr>
            </a:pPr>
            <a:r>
              <a:t>方式一：在线演示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直接访问演示网站，内置高市早苗数据集，可快速体验全部功能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303520" cy="64008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</a:defRPr>
            </a:pPr>
            <a:r>
              <a:t>https://deft-cobbler-20d1c4.netlify.app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576C"/>
                </a:solidFill>
              </a:defRPr>
            </a:pPr>
            <a:r>
              <a:t>方式二：本地部署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git clone https://github.com/LeonTang-LeonTang/OpinionLens.git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cd frontend &amp;&amp; npm install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2569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npm run dev          # 启动开发服务器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0974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npm run build        # 生产构建（嵌入分析数据）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576C"/>
                </a:solidFill>
              </a:defRPr>
            </a:pPr>
            <a:r>
              <a:t>数据准备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支持的输入格式：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• Twitter JSONL（每行一条推文）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通用 CSV（含 screen_name, text, created_at 列）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手动选择已有数据集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数据量建议：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576C"/>
                </a:solidFill>
              </a:defRPr>
            </a:pPr>
            <a:r>
              <a:t>单次分析 1,000 ~ 500,000 条推文效果最佳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数据处理命令：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python src/data_preprocessing.py --input data.jsonl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04748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python src/network_analysis.py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4315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python src/sentiment_topic_analysis.py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815583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python src/build_embedded_data.py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5576C"/>
                </a:solidFill>
              </a:defRPr>
            </a:pPr>
            <a: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案例演示：高市早苗相关推文分析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8288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数据集：271,852 条推文 · 50,466 个用户 · 213天跨度 · 2025-10 至 2026-05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2651760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</a:defRPr>
            </a:pPr>
            <a:r>
              <a:t>40,902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网络节点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8288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828800"/>
            <a:ext cx="2651760" cy="73152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64BA2"/>
                </a:solidFill>
              </a:defRPr>
            </a:pPr>
            <a:r>
              <a:t>120,030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514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传播边数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8288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82880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16.9%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14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正面情感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828800"/>
            <a:ext cx="265176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1828800"/>
            <a:ext cx="2651760" cy="73152"/>
          </a:xfrm>
          <a:prstGeom prst="rect">
            <a:avLst/>
          </a:prstGeom>
          <a:solidFill>
            <a:srgbClr val="F55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011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576C"/>
                </a:solidFill>
              </a:defRPr>
            </a:pPr>
            <a:r>
              <a:t>4+1,158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514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高/中风险账号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00400"/>
            <a:ext cx="3749039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200400"/>
            <a:ext cx="3749039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意见领袖三层结构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840480"/>
            <a:ext cx="3474720" cy="254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政治人物核心层 (@takaichi_sanae)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媒体中介层 (Sankei/47news/Yahoo)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46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高互动草根层 (@ashitawawatashi)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60" y="3200400"/>
            <a:ext cx="3749039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60" y="3200400"/>
            <a:ext cx="3749039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情感分布特征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840480"/>
            <a:ext cx="34747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中立主导 78%（理性观望）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正面 16.9% vs 负面 5.1%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846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正负比 3.3:1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3200400"/>
            <a:ext cx="3749039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60" y="3200400"/>
            <a:ext cx="3749039" cy="73152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3383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</a:defRPr>
            </a:pPr>
            <a:r>
              <a:t>热门话题分布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20" y="3840480"/>
            <a:ext cx="3474720" cy="2540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4023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#高市早苗 (17,125次)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434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批评性标签占比显著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4846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</a:defRPr>
            </a:pPr>
            <a:r>
              <a:t>• 统一教会关联突出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67EEA"/>
            </a:gs>
            <a:gs pos="100000">
              <a:srgbClr val="764BA2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感谢聆听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Thank You for Your Attention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https://deft-cobbler-20d1c4.netlify.app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6634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AI Society Research Team  |  2026年5月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